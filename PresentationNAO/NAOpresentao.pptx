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chivo Black" panose="020B0604020202020204" charset="0"/>
      <p:regular r:id="rId8"/>
    </p:embeddedFont>
    <p:embeddedFont>
      <p:font typeface="Open Sans" panose="020B0606030504020204" pitchFamily="34" charset="0"/>
      <p:regular r:id="rId9"/>
    </p:embeddedFont>
    <p:embeddedFont>
      <p:font typeface="Open Sans Bold" panose="020B0604020202020204" charset="0"/>
      <p:regular r:id="rId10"/>
    </p:embeddedFont>
    <p:embeddedFont>
      <p:font typeface="Open Sans Bold Italics" panose="020B0604020202020204" charset="0"/>
      <p:regular r:id="rId11"/>
    </p:embeddedFont>
    <p:embeddedFont>
      <p:font typeface="TT Supermolot Neue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orenzoCollivaUnibo/BallaConNao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60004" y="0"/>
            <a:ext cx="6827996" cy="10287000"/>
          </a:xfrm>
          <a:custGeom>
            <a:avLst/>
            <a:gdLst/>
            <a:ahLst/>
            <a:cxnLst/>
            <a:rect l="l" t="t" r="r" b="b"/>
            <a:pathLst>
              <a:path w="6827996" h="10287000">
                <a:moveTo>
                  <a:pt x="0" y="0"/>
                </a:moveTo>
                <a:lnTo>
                  <a:pt x="6827996" y="0"/>
                </a:lnTo>
                <a:lnTo>
                  <a:pt x="682799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-1040081" y="4861053"/>
            <a:ext cx="12500084" cy="6425971"/>
          </a:xfrm>
          <a:custGeom>
            <a:avLst/>
            <a:gdLst/>
            <a:ahLst/>
            <a:cxnLst/>
            <a:rect l="l" t="t" r="r" b="b"/>
            <a:pathLst>
              <a:path w="12500084" h="6425971">
                <a:moveTo>
                  <a:pt x="0" y="0"/>
                </a:moveTo>
                <a:lnTo>
                  <a:pt x="12500085" y="0"/>
                </a:lnTo>
                <a:lnTo>
                  <a:pt x="12500085" y="6425971"/>
                </a:lnTo>
                <a:lnTo>
                  <a:pt x="0" y="64259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046" r="-192" b="-14502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0" y="8379732"/>
            <a:ext cx="11460004" cy="1907268"/>
            <a:chOff x="0" y="0"/>
            <a:chExt cx="3018273" cy="5023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18273" cy="502326"/>
            </a:xfrm>
            <a:custGeom>
              <a:avLst/>
              <a:gdLst/>
              <a:ahLst/>
              <a:cxnLst/>
              <a:rect l="l" t="t" r="r" b="b"/>
              <a:pathLst>
                <a:path w="3018273" h="502326">
                  <a:moveTo>
                    <a:pt x="0" y="0"/>
                  </a:moveTo>
                  <a:lnTo>
                    <a:pt x="3018273" y="0"/>
                  </a:lnTo>
                  <a:lnTo>
                    <a:pt x="3018273" y="502326"/>
                  </a:lnTo>
                  <a:lnTo>
                    <a:pt x="0" y="502326"/>
                  </a:lnTo>
                  <a:close/>
                </a:path>
              </a:pathLst>
            </a:custGeom>
            <a:gradFill rotWithShape="1">
              <a:gsLst>
                <a:gs pos="0">
                  <a:srgbClr val="A72233">
                    <a:alpha val="100000"/>
                  </a:srgbClr>
                </a:gs>
                <a:gs pos="100000">
                  <a:srgbClr val="D68181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3018273" cy="530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279383"/>
            <a:ext cx="14500846" cy="2829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79"/>
              </a:lnSpc>
              <a:spcBef>
                <a:spcPct val="0"/>
              </a:spcBef>
            </a:pPr>
            <a:r>
              <a:rPr lang="en-US" sz="8128">
                <a:solidFill>
                  <a:srgbClr val="A72233"/>
                </a:solidFill>
                <a:latin typeface="Archivo Black"/>
                <a:ea typeface="Archivo Black"/>
                <a:cs typeface="Archivo Black"/>
                <a:sym typeface="Archivo Black"/>
              </a:rPr>
              <a:t>NAO PLANNING CHALLENGE 2025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566923"/>
            <a:ext cx="3322090" cy="78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LORENZO COLLIVA</a:t>
            </a:r>
          </a:p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GIADA DE MICCO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38508" y="8793024"/>
            <a:ext cx="4382988" cy="9721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  <a:spcBef>
                <a:spcPct val="0"/>
              </a:spcBef>
            </a:pPr>
            <a:r>
              <a:rPr lang="en-US" sz="5599" b="1" dirty="0" err="1">
                <a:solidFill>
                  <a:srgbClr val="FFFFFF"/>
                </a:solidFill>
                <a:latin typeface="TT Supermolot Neue Bold"/>
                <a:ea typeface="TT Supermolot Neue Bold"/>
                <a:cs typeface="TT Supermolot Neue Bold"/>
                <a:sym typeface="TT Supermolot Neue Bold"/>
              </a:rPr>
              <a:t>BallaConNAO</a:t>
            </a:r>
            <a:endParaRPr lang="en-US" sz="5599" b="1" dirty="0">
              <a:solidFill>
                <a:srgbClr val="FFFFFF"/>
              </a:solidFill>
              <a:latin typeface="TT Supermolot Neue Bold"/>
              <a:ea typeface="TT Supermolot Neue Bold"/>
              <a:cs typeface="TT Supermolot Neue Bold"/>
              <a:sym typeface="TT Supermolot Neue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4219653"/>
            <a:ext cx="6482715" cy="6067347"/>
            <a:chOff x="0" y="0"/>
            <a:chExt cx="1707382" cy="15979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07382" cy="1597984"/>
            </a:xfrm>
            <a:custGeom>
              <a:avLst/>
              <a:gdLst/>
              <a:ahLst/>
              <a:cxnLst/>
              <a:rect l="l" t="t" r="r" b="b"/>
              <a:pathLst>
                <a:path w="1707382" h="1597984">
                  <a:moveTo>
                    <a:pt x="0" y="0"/>
                  </a:moveTo>
                  <a:lnTo>
                    <a:pt x="1707382" y="0"/>
                  </a:lnTo>
                  <a:lnTo>
                    <a:pt x="1707382" y="1597984"/>
                  </a:lnTo>
                  <a:lnTo>
                    <a:pt x="0" y="1597984"/>
                  </a:lnTo>
                  <a:close/>
                </a:path>
              </a:pathLst>
            </a:custGeom>
            <a:gradFill rotWithShape="1">
              <a:gsLst>
                <a:gs pos="0">
                  <a:srgbClr val="A72233">
                    <a:alpha val="100000"/>
                  </a:srgbClr>
                </a:gs>
                <a:gs pos="100000">
                  <a:srgbClr val="D68181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707382" cy="16265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61921" y="1638161"/>
            <a:ext cx="8168532" cy="6677314"/>
            <a:chOff x="0" y="0"/>
            <a:chExt cx="1328700" cy="10861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28700" cy="1086137"/>
            </a:xfrm>
            <a:custGeom>
              <a:avLst/>
              <a:gdLst/>
              <a:ahLst/>
              <a:cxnLst/>
              <a:rect l="l" t="t" r="r" b="b"/>
              <a:pathLst>
                <a:path w="1328700" h="1086137">
                  <a:moveTo>
                    <a:pt x="0" y="0"/>
                  </a:moveTo>
                  <a:lnTo>
                    <a:pt x="1328700" y="0"/>
                  </a:lnTo>
                  <a:lnTo>
                    <a:pt x="1328700" y="1086137"/>
                  </a:lnTo>
                  <a:lnTo>
                    <a:pt x="0" y="1086137"/>
                  </a:lnTo>
                  <a:close/>
                </a:path>
              </a:pathLst>
            </a:custGeom>
            <a:blipFill>
              <a:blip r:embed="rId2"/>
              <a:stretch>
                <a:fillRect t="-11166" b="-11166"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" name="Freeform 7"/>
          <p:cNvSpPr/>
          <p:nvPr/>
        </p:nvSpPr>
        <p:spPr>
          <a:xfrm>
            <a:off x="12320500" y="4843266"/>
            <a:ext cx="3472210" cy="3472210"/>
          </a:xfrm>
          <a:custGeom>
            <a:avLst/>
            <a:gdLst/>
            <a:ahLst/>
            <a:cxnLst/>
            <a:rect l="l" t="t" r="r" b="b"/>
            <a:pathLst>
              <a:path w="3472210" h="3472210">
                <a:moveTo>
                  <a:pt x="0" y="0"/>
                </a:moveTo>
                <a:lnTo>
                  <a:pt x="3472210" y="0"/>
                </a:lnTo>
                <a:lnTo>
                  <a:pt x="3472210" y="3472210"/>
                </a:lnTo>
                <a:lnTo>
                  <a:pt x="0" y="34722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10460501" y="1742936"/>
            <a:ext cx="6798799" cy="1593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94"/>
              </a:lnSpc>
            </a:pPr>
            <a:r>
              <a:rPr lang="en-US" sz="6094">
                <a:solidFill>
                  <a:srgbClr val="A72233"/>
                </a:solidFill>
                <a:latin typeface="Archivo Black"/>
                <a:ea typeface="Archivo Black"/>
                <a:cs typeface="Archivo Black"/>
                <a:sym typeface="Archivo Black"/>
              </a:rPr>
              <a:t>DANCE COREOGRAPHY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60501" y="3608313"/>
            <a:ext cx="7294099" cy="8939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 dirty="0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Reggaeton Song:  </a:t>
            </a:r>
            <a:r>
              <a:rPr lang="en-US" sz="2599" b="1" dirty="0" err="1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Muevelou</a:t>
            </a:r>
            <a:r>
              <a:rPr lang="en-US" sz="2599" b="1" dirty="0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- Natanael </a:t>
            </a:r>
            <a:r>
              <a:rPr lang="en-US" sz="2599" b="1" dirty="0" err="1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cano</a:t>
            </a:r>
            <a:endParaRPr lang="en-US" sz="2599" b="1" dirty="0">
              <a:solidFill>
                <a:srgbClr val="A7223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 b="1" dirty="0">
              <a:solidFill>
                <a:srgbClr val="A7223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43531" y="4568278"/>
            <a:ext cx="12715769" cy="4690022"/>
          </a:xfrm>
          <a:custGeom>
            <a:avLst/>
            <a:gdLst/>
            <a:ahLst/>
            <a:cxnLst/>
            <a:rect l="l" t="t" r="r" b="b"/>
            <a:pathLst>
              <a:path w="12715769" h="4690022">
                <a:moveTo>
                  <a:pt x="0" y="0"/>
                </a:moveTo>
                <a:lnTo>
                  <a:pt x="12715769" y="0"/>
                </a:lnTo>
                <a:lnTo>
                  <a:pt x="12715769" y="4690022"/>
                </a:lnTo>
                <a:lnTo>
                  <a:pt x="0" y="46900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258" b="-6258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3" name="Group 3"/>
          <p:cNvGrpSpPr/>
          <p:nvPr/>
        </p:nvGrpSpPr>
        <p:grpSpPr>
          <a:xfrm>
            <a:off x="0" y="3705861"/>
            <a:ext cx="4267200" cy="6581139"/>
            <a:chOff x="0" y="0"/>
            <a:chExt cx="1841042" cy="17333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41042" cy="1733304"/>
            </a:xfrm>
            <a:custGeom>
              <a:avLst/>
              <a:gdLst/>
              <a:ahLst/>
              <a:cxnLst/>
              <a:rect l="l" t="t" r="r" b="b"/>
              <a:pathLst>
                <a:path w="1841042" h="1733304">
                  <a:moveTo>
                    <a:pt x="0" y="0"/>
                  </a:moveTo>
                  <a:lnTo>
                    <a:pt x="1841042" y="0"/>
                  </a:lnTo>
                  <a:lnTo>
                    <a:pt x="1841042" y="1733304"/>
                  </a:lnTo>
                  <a:lnTo>
                    <a:pt x="0" y="1733304"/>
                  </a:lnTo>
                  <a:close/>
                </a:path>
              </a:pathLst>
            </a:custGeom>
            <a:gradFill rotWithShape="1">
              <a:gsLst>
                <a:gs pos="0">
                  <a:srgbClr val="A72233">
                    <a:alpha val="100000"/>
                  </a:srgbClr>
                </a:gs>
                <a:gs pos="100000">
                  <a:srgbClr val="D6818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841042" cy="1761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96489" y="3849377"/>
            <a:ext cx="3727098" cy="6294105"/>
          </a:xfrm>
          <a:custGeom>
            <a:avLst/>
            <a:gdLst/>
            <a:ahLst/>
            <a:cxnLst/>
            <a:rect l="l" t="t" r="r" b="b"/>
            <a:pathLst>
              <a:path w="3727098" h="6294105">
                <a:moveTo>
                  <a:pt x="0" y="0"/>
                </a:moveTo>
                <a:lnTo>
                  <a:pt x="3727098" y="0"/>
                </a:lnTo>
                <a:lnTo>
                  <a:pt x="3727098" y="6294105"/>
                </a:lnTo>
                <a:lnTo>
                  <a:pt x="0" y="6294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1028700" y="1152525"/>
            <a:ext cx="7328449" cy="1741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94"/>
              </a:lnSpc>
            </a:pPr>
            <a:r>
              <a:rPr lang="en-US" sz="6694">
                <a:solidFill>
                  <a:srgbClr val="A72233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COMPETITION RULES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30561" y="971550"/>
            <a:ext cx="7028739" cy="2734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time of choreography 2 minutes</a:t>
            </a:r>
          </a:p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Initial state (StandInit)</a:t>
            </a:r>
          </a:p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Goal (Crouch)</a:t>
            </a:r>
          </a:p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 mandatory positions</a:t>
            </a:r>
          </a:p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At least 5 intermediate positions selected by the algorithm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78076" y="3841572"/>
            <a:ext cx="7509924" cy="2603857"/>
            <a:chOff x="0" y="0"/>
            <a:chExt cx="1977922" cy="6857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77922" cy="685789"/>
            </a:xfrm>
            <a:custGeom>
              <a:avLst/>
              <a:gdLst/>
              <a:ahLst/>
              <a:cxnLst/>
              <a:rect l="l" t="t" r="r" b="b"/>
              <a:pathLst>
                <a:path w="1977922" h="685789">
                  <a:moveTo>
                    <a:pt x="0" y="0"/>
                  </a:moveTo>
                  <a:lnTo>
                    <a:pt x="1977922" y="0"/>
                  </a:lnTo>
                  <a:lnTo>
                    <a:pt x="1977922" y="685789"/>
                  </a:lnTo>
                  <a:lnTo>
                    <a:pt x="0" y="685789"/>
                  </a:lnTo>
                  <a:close/>
                </a:path>
              </a:pathLst>
            </a:custGeom>
            <a:gradFill rotWithShape="1">
              <a:gsLst>
                <a:gs pos="0">
                  <a:srgbClr val="A72233">
                    <a:alpha val="100000"/>
                  </a:srgbClr>
                </a:gs>
                <a:gs pos="100000">
                  <a:srgbClr val="D6818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977922" cy="714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172513" y="1965021"/>
            <a:ext cx="6086787" cy="6356958"/>
          </a:xfrm>
          <a:custGeom>
            <a:avLst/>
            <a:gdLst/>
            <a:ahLst/>
            <a:cxnLst/>
            <a:rect l="l" t="t" r="r" b="b"/>
            <a:pathLst>
              <a:path w="6086787" h="6356958">
                <a:moveTo>
                  <a:pt x="0" y="0"/>
                </a:moveTo>
                <a:lnTo>
                  <a:pt x="6086787" y="0"/>
                </a:lnTo>
                <a:lnTo>
                  <a:pt x="608678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TextBox 6"/>
          <p:cNvSpPr txBox="1"/>
          <p:nvPr/>
        </p:nvSpPr>
        <p:spPr>
          <a:xfrm>
            <a:off x="1028700" y="1152525"/>
            <a:ext cx="9325487" cy="893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94"/>
              </a:lnSpc>
            </a:pPr>
            <a:r>
              <a:rPr lang="en-US" sz="6694">
                <a:solidFill>
                  <a:srgbClr val="A72233"/>
                </a:solidFill>
                <a:latin typeface="Archivo Black"/>
                <a:ea typeface="Archivo Black"/>
                <a:cs typeface="Archivo Black"/>
                <a:sym typeface="Archivo Black"/>
              </a:rPr>
              <a:t>IMPLEMENTATION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604770"/>
            <a:ext cx="8316907" cy="502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Coded in Python</a:t>
            </a:r>
          </a:p>
          <a:p>
            <a:pPr algn="l">
              <a:lnSpc>
                <a:spcPts val="3639"/>
              </a:lnSpc>
            </a:pPr>
            <a:endParaRPr lang="en-US" sz="2599" b="1">
              <a:solidFill>
                <a:srgbClr val="A7223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Search Algorithm: A*, through AIMA Library</a:t>
            </a:r>
          </a:p>
          <a:p>
            <a:pPr algn="l">
              <a:lnSpc>
                <a:spcPts val="3639"/>
              </a:lnSpc>
            </a:pPr>
            <a:endParaRPr lang="en-US" sz="2599" b="1">
              <a:solidFill>
                <a:srgbClr val="A7223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Heuristic function combines three aspects: Entropy, Remaining Time, Musical Energy</a:t>
            </a:r>
          </a:p>
          <a:p>
            <a:pPr algn="l">
              <a:lnSpc>
                <a:spcPts val="3639"/>
              </a:lnSpc>
            </a:pPr>
            <a:endParaRPr lang="en-US" sz="2599" b="1">
              <a:solidFill>
                <a:srgbClr val="A7223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Check if the preconditions are satisfied</a:t>
            </a:r>
          </a:p>
          <a:p>
            <a:pPr algn="l">
              <a:lnSpc>
                <a:spcPts val="3639"/>
              </a:lnSpc>
            </a:pPr>
            <a:endParaRPr lang="en-US" sz="2599" b="1">
              <a:solidFill>
                <a:srgbClr val="A7223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561334" lvl="1" indent="-280667" algn="l">
              <a:lnSpc>
                <a:spcPts val="3639"/>
              </a:lnSpc>
              <a:buFont typeface="Arial"/>
              <a:buChar char="•"/>
            </a:pPr>
            <a:r>
              <a:rPr lang="en-US" sz="2599" b="1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Avoid repeating moves</a:t>
            </a:r>
          </a:p>
          <a:p>
            <a:pPr algn="l">
              <a:lnSpc>
                <a:spcPts val="3639"/>
              </a:lnSpc>
            </a:pPr>
            <a:endParaRPr lang="en-US" sz="2599" b="1">
              <a:solidFill>
                <a:srgbClr val="A7223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945056" y="8809989"/>
            <a:ext cx="9314244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>
                <a:solidFill>
                  <a:srgbClr val="A722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Repo</a:t>
            </a:r>
            <a:r>
              <a:rPr lang="en-US" sz="2599">
                <a:solidFill>
                  <a:srgbClr val="A72233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2599" u="sng">
                <a:solidFill>
                  <a:srgbClr val="A72233"/>
                </a:solidFill>
                <a:latin typeface="Open Sans"/>
                <a:ea typeface="Open Sans"/>
                <a:cs typeface="Open Sans"/>
                <a:sym typeface="Open Sans"/>
                <a:hlinkClick r:id="rId3" tooltip="https://github.com/LorenzoCollivaUnibo/BallaConNao/"/>
              </a:rPr>
              <a:t>https://github.com/LorenzoCollivaUnibo/BallaConNao</a:t>
            </a:r>
            <a:r>
              <a:rPr lang="en-US" sz="2599">
                <a:solidFill>
                  <a:srgbClr val="A7223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04805" y="2937645"/>
            <a:ext cx="12078390" cy="2205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80"/>
              </a:lnSpc>
            </a:pPr>
            <a:r>
              <a:rPr lang="en-US" sz="8480">
                <a:solidFill>
                  <a:srgbClr val="A72233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THANKS FOR THE ATTENTION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58605" y="5434677"/>
            <a:ext cx="5370790" cy="695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sz="4099" b="1" i="1">
                <a:solidFill>
                  <a:srgbClr val="A72233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Now BALLA CON NAO!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2607856" y="1028700"/>
            <a:ext cx="13072289" cy="82296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0" y="9775355"/>
            <a:ext cx="11460004" cy="511645"/>
            <a:chOff x="0" y="0"/>
            <a:chExt cx="3018273" cy="1347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18273" cy="134754"/>
            </a:xfrm>
            <a:custGeom>
              <a:avLst/>
              <a:gdLst/>
              <a:ahLst/>
              <a:cxnLst/>
              <a:rect l="l" t="t" r="r" b="b"/>
              <a:pathLst>
                <a:path w="3018273" h="134754">
                  <a:moveTo>
                    <a:pt x="0" y="0"/>
                  </a:moveTo>
                  <a:lnTo>
                    <a:pt x="3018273" y="0"/>
                  </a:lnTo>
                  <a:lnTo>
                    <a:pt x="3018273" y="134754"/>
                  </a:lnTo>
                  <a:lnTo>
                    <a:pt x="0" y="134754"/>
                  </a:lnTo>
                  <a:close/>
                </a:path>
              </a:pathLst>
            </a:custGeom>
            <a:gradFill rotWithShape="1">
              <a:gsLst>
                <a:gs pos="0">
                  <a:srgbClr val="A72233">
                    <a:alpha val="100000"/>
                  </a:srgbClr>
                </a:gs>
                <a:gs pos="100000">
                  <a:srgbClr val="D68181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3018273" cy="1633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7548318" y="0"/>
            <a:ext cx="10739682" cy="514350"/>
            <a:chOff x="0" y="0"/>
            <a:chExt cx="2828558" cy="135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28558" cy="135467"/>
            </a:xfrm>
            <a:custGeom>
              <a:avLst/>
              <a:gdLst/>
              <a:ahLst/>
              <a:cxnLst/>
              <a:rect l="l" t="t" r="r" b="b"/>
              <a:pathLst>
                <a:path w="2828558" h="135467">
                  <a:moveTo>
                    <a:pt x="0" y="0"/>
                  </a:moveTo>
                  <a:lnTo>
                    <a:pt x="2828558" y="0"/>
                  </a:lnTo>
                  <a:lnTo>
                    <a:pt x="2828558" y="135467"/>
                  </a:lnTo>
                  <a:lnTo>
                    <a:pt x="0" y="135467"/>
                  </a:lnTo>
                  <a:close/>
                </a:path>
              </a:pathLst>
            </a:custGeom>
            <a:gradFill rotWithShape="1">
              <a:gsLst>
                <a:gs pos="0">
                  <a:srgbClr val="A72233">
                    <a:alpha val="100000"/>
                  </a:srgbClr>
                </a:gs>
                <a:gs pos="100000">
                  <a:srgbClr val="D68181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828558" cy="1640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275787"/>
            <a:ext cx="5730002" cy="543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3"/>
              </a:lnSpc>
            </a:pPr>
            <a:r>
              <a:rPr lang="en-US" sz="4023">
                <a:solidFill>
                  <a:srgbClr val="A72233"/>
                </a:solidFill>
                <a:latin typeface="Archivo Black"/>
                <a:ea typeface="Archivo Black"/>
                <a:cs typeface="Archivo Black"/>
                <a:sym typeface="Archivo Black"/>
              </a:rPr>
              <a:t>Choreography Video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104</Words>
  <Application>Microsoft Office PowerPoint</Application>
  <PresentationFormat>Personalizzato</PresentationFormat>
  <Paragraphs>26</Paragraphs>
  <Slides>6</Slides>
  <Notes>0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4" baseType="lpstr">
      <vt:lpstr>Archivo Black</vt:lpstr>
      <vt:lpstr>Arial</vt:lpstr>
      <vt:lpstr>Open Sans Bold Italics</vt:lpstr>
      <vt:lpstr>Open Sans</vt:lpstr>
      <vt:lpstr>Open Sans Bold</vt:lpstr>
      <vt:lpstr>TT Supermolot Neue Bold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NAOpresentao</dc:title>
  <cp:lastModifiedBy>Lorenzo Colliva</cp:lastModifiedBy>
  <cp:revision>3</cp:revision>
  <dcterms:created xsi:type="dcterms:W3CDTF">2006-08-16T00:00:00Z</dcterms:created>
  <dcterms:modified xsi:type="dcterms:W3CDTF">2025-12-09T10:32:53Z</dcterms:modified>
  <dc:identifier>DAG5DAJJ5W0</dc:identifier>
</cp:coreProperties>
</file>