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8288000" cy="10287000"/>
  <p:notesSz cx="6858000" cy="9144000"/>
  <p:embeddedFontLst>
    <p:embeddedFont>
      <p:font typeface="Archivo Black" charset="1" panose="020B0A03020202020B04"/>
      <p:regular r:id="rId11"/>
    </p:embeddedFont>
    <p:embeddedFont>
      <p:font typeface="Open Sans Bold" charset="1" panose="00000000000000000000"/>
      <p:regular r:id="rId12"/>
    </p:embeddedFont>
    <p:embeddedFont>
      <p:font typeface="TT Supermolot Neue Bold" charset="1" panose="02000803030000020004"/>
      <p:regular r:id="rId13"/>
    </p:embeddedFont>
    <p:embeddedFont>
      <p:font typeface="Open Sans" charset="1" panose="00000000000000000000"/>
      <p:regular r:id="rId14"/>
    </p:embeddedFont>
    <p:embeddedFont>
      <p:font typeface="Open Sans Bold Italics" charset="1" panose="0000000000000000000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https://github.com/LorenzoCollivaUnibo/BallaConNao/" TargetMode="External" Type="http://schemas.openxmlformats.org/officeDocument/2006/relationships/hyperlink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460004" y="0"/>
            <a:ext cx="6827996" cy="10287000"/>
          </a:xfrm>
          <a:custGeom>
            <a:avLst/>
            <a:gdLst/>
            <a:ahLst/>
            <a:cxnLst/>
            <a:rect r="r" b="b" t="t" l="l"/>
            <a:pathLst>
              <a:path h="10287000" w="6827996">
                <a:moveTo>
                  <a:pt x="0" y="0"/>
                </a:moveTo>
                <a:lnTo>
                  <a:pt x="6827996" y="0"/>
                </a:lnTo>
                <a:lnTo>
                  <a:pt x="682799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040081" y="4861053"/>
            <a:ext cx="12500084" cy="6425971"/>
          </a:xfrm>
          <a:custGeom>
            <a:avLst/>
            <a:gdLst/>
            <a:ahLst/>
            <a:cxnLst/>
            <a:rect r="r" b="b" t="t" l="l"/>
            <a:pathLst>
              <a:path h="6425971" w="12500084">
                <a:moveTo>
                  <a:pt x="0" y="0"/>
                </a:moveTo>
                <a:lnTo>
                  <a:pt x="12500085" y="0"/>
                </a:lnTo>
                <a:lnTo>
                  <a:pt x="12500085" y="6425971"/>
                </a:lnTo>
                <a:lnTo>
                  <a:pt x="0" y="64259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7046" t="0" r="-192" b="-14502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0" y="8379732"/>
            <a:ext cx="11460004" cy="1907268"/>
            <a:chOff x="0" y="0"/>
            <a:chExt cx="3018273" cy="50232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018273" cy="502326"/>
            </a:xfrm>
            <a:custGeom>
              <a:avLst/>
              <a:gdLst/>
              <a:ahLst/>
              <a:cxnLst/>
              <a:rect r="r" b="b" t="t" l="l"/>
              <a:pathLst>
                <a:path h="502326" w="3018273">
                  <a:moveTo>
                    <a:pt x="0" y="0"/>
                  </a:moveTo>
                  <a:lnTo>
                    <a:pt x="3018273" y="0"/>
                  </a:lnTo>
                  <a:lnTo>
                    <a:pt x="3018273" y="502326"/>
                  </a:lnTo>
                  <a:lnTo>
                    <a:pt x="0" y="502326"/>
                  </a:lnTo>
                  <a:close/>
                </a:path>
              </a:pathLst>
            </a:custGeom>
            <a:gradFill rotWithShape="true">
              <a:gsLst>
                <a:gs pos="0">
                  <a:srgbClr val="A72233">
                    <a:alpha val="100000"/>
                  </a:srgbClr>
                </a:gs>
                <a:gs pos="100000">
                  <a:srgbClr val="D68181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3018273" cy="5309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9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1028700" y="279383"/>
            <a:ext cx="14500846" cy="2829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379"/>
              </a:lnSpc>
              <a:spcBef>
                <a:spcPct val="0"/>
              </a:spcBef>
            </a:pPr>
            <a:r>
              <a:rPr lang="en-US" sz="8128">
                <a:solidFill>
                  <a:srgbClr val="A72233"/>
                </a:solidFill>
                <a:latin typeface="Archivo Black"/>
                <a:ea typeface="Archivo Black"/>
                <a:cs typeface="Archivo Black"/>
                <a:sym typeface="Archivo Black"/>
              </a:rPr>
              <a:t>NAO PLANNING CHALLENGE 2025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3566923"/>
            <a:ext cx="3322090" cy="7893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b="true" sz="2299">
                <a:solidFill>
                  <a:srgbClr val="A7223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LORENZO COLLIVA</a:t>
            </a:r>
          </a:p>
          <a:p>
            <a:pPr algn="l">
              <a:lnSpc>
                <a:spcPts val="3219"/>
              </a:lnSpc>
              <a:spcBef>
                <a:spcPct val="0"/>
              </a:spcBef>
            </a:pPr>
            <a:r>
              <a:rPr lang="en-US" b="true" sz="2299">
                <a:solidFill>
                  <a:srgbClr val="A7223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GIADA DE MICCO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3694212" y="8785360"/>
            <a:ext cx="4071580" cy="9721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39"/>
              </a:lnSpc>
              <a:spcBef>
                <a:spcPct val="0"/>
              </a:spcBef>
            </a:pPr>
            <a:r>
              <a:rPr lang="en-US" b="true" sz="5599">
                <a:solidFill>
                  <a:srgbClr val="FFFFFF"/>
                </a:solidFill>
                <a:latin typeface="TT Supermolot Neue Bold"/>
                <a:ea typeface="TT Supermolot Neue Bold"/>
                <a:cs typeface="TT Supermolot Neue Bold"/>
                <a:sym typeface="TT Supermolot Neue Bold"/>
              </a:rPr>
              <a:t>BallaConNAO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19653"/>
            <a:ext cx="6482715" cy="6067347"/>
            <a:chOff x="0" y="0"/>
            <a:chExt cx="1707382" cy="159798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707382" cy="1597984"/>
            </a:xfrm>
            <a:custGeom>
              <a:avLst/>
              <a:gdLst/>
              <a:ahLst/>
              <a:cxnLst/>
              <a:rect r="r" b="b" t="t" l="l"/>
              <a:pathLst>
                <a:path h="1597984" w="1707382">
                  <a:moveTo>
                    <a:pt x="0" y="0"/>
                  </a:moveTo>
                  <a:lnTo>
                    <a:pt x="1707382" y="0"/>
                  </a:lnTo>
                  <a:lnTo>
                    <a:pt x="1707382" y="1597984"/>
                  </a:lnTo>
                  <a:lnTo>
                    <a:pt x="0" y="1597984"/>
                  </a:lnTo>
                  <a:close/>
                </a:path>
              </a:pathLst>
            </a:custGeom>
            <a:gradFill rotWithShape="true">
              <a:gsLst>
                <a:gs pos="0">
                  <a:srgbClr val="A72233">
                    <a:alpha val="100000"/>
                  </a:srgbClr>
                </a:gs>
                <a:gs pos="100000">
                  <a:srgbClr val="D68181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1707382" cy="16265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61921" y="1638161"/>
            <a:ext cx="8168532" cy="6677314"/>
            <a:chOff x="0" y="0"/>
            <a:chExt cx="1328700" cy="108613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28700" cy="1086137"/>
            </a:xfrm>
            <a:custGeom>
              <a:avLst/>
              <a:gdLst/>
              <a:ahLst/>
              <a:cxnLst/>
              <a:rect r="r" b="b" t="t" l="l"/>
              <a:pathLst>
                <a:path h="1086137" w="1328700">
                  <a:moveTo>
                    <a:pt x="0" y="0"/>
                  </a:moveTo>
                  <a:lnTo>
                    <a:pt x="1328700" y="0"/>
                  </a:lnTo>
                  <a:lnTo>
                    <a:pt x="1328700" y="1086137"/>
                  </a:lnTo>
                  <a:lnTo>
                    <a:pt x="0" y="1086137"/>
                  </a:lnTo>
                  <a:close/>
                </a:path>
              </a:pathLst>
            </a:custGeom>
            <a:blipFill>
              <a:blip r:embed="rId2"/>
              <a:stretch>
                <a:fillRect l="0" t="-11166" r="0" b="-11166"/>
              </a:stretch>
            </a:blip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12320500" y="4843266"/>
            <a:ext cx="3472210" cy="3472210"/>
          </a:xfrm>
          <a:custGeom>
            <a:avLst/>
            <a:gdLst/>
            <a:ahLst/>
            <a:cxnLst/>
            <a:rect r="r" b="b" t="t" l="l"/>
            <a:pathLst>
              <a:path h="3472210" w="3472210">
                <a:moveTo>
                  <a:pt x="0" y="0"/>
                </a:moveTo>
                <a:lnTo>
                  <a:pt x="3472210" y="0"/>
                </a:lnTo>
                <a:lnTo>
                  <a:pt x="3472210" y="3472210"/>
                </a:lnTo>
                <a:lnTo>
                  <a:pt x="0" y="34722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0460501" y="1742936"/>
            <a:ext cx="6798799" cy="15930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94"/>
              </a:lnSpc>
            </a:pPr>
            <a:r>
              <a:rPr lang="en-US" sz="6094">
                <a:solidFill>
                  <a:srgbClr val="A72233"/>
                </a:solidFill>
                <a:latin typeface="Archivo Black"/>
                <a:ea typeface="Archivo Black"/>
                <a:cs typeface="Archivo Black"/>
                <a:sym typeface="Archivo Black"/>
              </a:rPr>
              <a:t>DANCE COREOGRAPHY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460501" y="3608313"/>
            <a:ext cx="6798799" cy="1362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599" b="true">
                <a:solidFill>
                  <a:srgbClr val="A7223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Reggaeton Song:  Muevelou - Natanael cano</a:t>
            </a:r>
          </a:p>
          <a:p>
            <a:pPr algn="l">
              <a:lnSpc>
                <a:spcPts val="363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543531" y="4568278"/>
            <a:ext cx="12715769" cy="4690022"/>
          </a:xfrm>
          <a:custGeom>
            <a:avLst/>
            <a:gdLst/>
            <a:ahLst/>
            <a:cxnLst/>
            <a:rect r="r" b="b" t="t" l="l"/>
            <a:pathLst>
              <a:path h="4690022" w="12715769">
                <a:moveTo>
                  <a:pt x="0" y="0"/>
                </a:moveTo>
                <a:lnTo>
                  <a:pt x="12715769" y="0"/>
                </a:lnTo>
                <a:lnTo>
                  <a:pt x="12715769" y="4690022"/>
                </a:lnTo>
                <a:lnTo>
                  <a:pt x="0" y="46900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258" r="0" b="-6258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870128" y="3705861"/>
            <a:ext cx="6990205" cy="6581139"/>
            <a:chOff x="0" y="0"/>
            <a:chExt cx="1841042" cy="173330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41042" cy="1733304"/>
            </a:xfrm>
            <a:custGeom>
              <a:avLst/>
              <a:gdLst/>
              <a:ahLst/>
              <a:cxnLst/>
              <a:rect r="r" b="b" t="t" l="l"/>
              <a:pathLst>
                <a:path h="1733304" w="1841042">
                  <a:moveTo>
                    <a:pt x="0" y="0"/>
                  </a:moveTo>
                  <a:lnTo>
                    <a:pt x="1841042" y="0"/>
                  </a:lnTo>
                  <a:lnTo>
                    <a:pt x="1841042" y="1733304"/>
                  </a:lnTo>
                  <a:lnTo>
                    <a:pt x="0" y="1733304"/>
                  </a:lnTo>
                  <a:close/>
                </a:path>
              </a:pathLst>
            </a:custGeom>
            <a:gradFill rotWithShape="true">
              <a:gsLst>
                <a:gs pos="0">
                  <a:srgbClr val="A72233">
                    <a:alpha val="100000"/>
                  </a:srgbClr>
                </a:gs>
                <a:gs pos="100000">
                  <a:srgbClr val="D68181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1841042" cy="176187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66299" y="3849378"/>
            <a:ext cx="3727098" cy="6294105"/>
          </a:xfrm>
          <a:custGeom>
            <a:avLst/>
            <a:gdLst/>
            <a:ahLst/>
            <a:cxnLst/>
            <a:rect r="r" b="b" t="t" l="l"/>
            <a:pathLst>
              <a:path h="6294105" w="3727098">
                <a:moveTo>
                  <a:pt x="0" y="0"/>
                </a:moveTo>
                <a:lnTo>
                  <a:pt x="3727098" y="0"/>
                </a:lnTo>
                <a:lnTo>
                  <a:pt x="3727098" y="6294105"/>
                </a:lnTo>
                <a:lnTo>
                  <a:pt x="0" y="6294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1152525"/>
            <a:ext cx="7328449" cy="1741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94"/>
              </a:lnSpc>
            </a:pPr>
            <a:r>
              <a:rPr lang="en-US" sz="6694">
                <a:solidFill>
                  <a:srgbClr val="A72233"/>
                </a:solidFill>
                <a:latin typeface="Archivo Black"/>
                <a:ea typeface="Archivo Black"/>
                <a:cs typeface="Archivo Black"/>
                <a:sym typeface="Archivo Black"/>
              </a:rPr>
              <a:t>COMPETITION RULES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30561" y="971550"/>
            <a:ext cx="7028739" cy="2734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1334" indent="-280667" lvl="1">
              <a:lnSpc>
                <a:spcPts val="3639"/>
              </a:lnSpc>
              <a:buFont typeface="Arial"/>
              <a:buChar char="•"/>
            </a:pPr>
            <a:r>
              <a:rPr lang="en-US" b="true" sz="2599">
                <a:solidFill>
                  <a:srgbClr val="A7223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Total time of choreography 2 minutes</a:t>
            </a:r>
          </a:p>
          <a:p>
            <a:pPr algn="l" marL="561334" indent="-280667" lvl="1">
              <a:lnSpc>
                <a:spcPts val="3639"/>
              </a:lnSpc>
              <a:buFont typeface="Arial"/>
              <a:buChar char="•"/>
            </a:pPr>
            <a:r>
              <a:rPr lang="en-US" b="true" sz="2599">
                <a:solidFill>
                  <a:srgbClr val="A7223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Initial state (StandInit)</a:t>
            </a:r>
          </a:p>
          <a:p>
            <a:pPr algn="l" marL="561334" indent="-280667" lvl="1">
              <a:lnSpc>
                <a:spcPts val="3639"/>
              </a:lnSpc>
              <a:buFont typeface="Arial"/>
              <a:buChar char="•"/>
            </a:pPr>
            <a:r>
              <a:rPr lang="en-US" b="true" sz="2599">
                <a:solidFill>
                  <a:srgbClr val="A7223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Goal (Crouch)</a:t>
            </a:r>
          </a:p>
          <a:p>
            <a:pPr algn="l" marL="561334" indent="-280667" lvl="1">
              <a:lnSpc>
                <a:spcPts val="3639"/>
              </a:lnSpc>
              <a:buFont typeface="Arial"/>
              <a:buChar char="•"/>
            </a:pPr>
            <a:r>
              <a:rPr lang="en-US" b="true" sz="2599">
                <a:solidFill>
                  <a:srgbClr val="A7223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6 mandatory positions</a:t>
            </a:r>
          </a:p>
          <a:p>
            <a:pPr algn="l" marL="561334" indent="-280667" lvl="1">
              <a:lnSpc>
                <a:spcPts val="3639"/>
              </a:lnSpc>
              <a:buFont typeface="Arial"/>
              <a:buChar char="•"/>
            </a:pPr>
            <a:r>
              <a:rPr lang="en-US" b="true" sz="2599">
                <a:solidFill>
                  <a:srgbClr val="A7223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At least 5 intermediate positions selected by the algorithm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778076" y="3841572"/>
            <a:ext cx="7509924" cy="2603857"/>
            <a:chOff x="0" y="0"/>
            <a:chExt cx="1977922" cy="68578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77922" cy="685789"/>
            </a:xfrm>
            <a:custGeom>
              <a:avLst/>
              <a:gdLst/>
              <a:ahLst/>
              <a:cxnLst/>
              <a:rect r="r" b="b" t="t" l="l"/>
              <a:pathLst>
                <a:path h="685789" w="1977922">
                  <a:moveTo>
                    <a:pt x="0" y="0"/>
                  </a:moveTo>
                  <a:lnTo>
                    <a:pt x="1977922" y="0"/>
                  </a:lnTo>
                  <a:lnTo>
                    <a:pt x="1977922" y="685789"/>
                  </a:lnTo>
                  <a:lnTo>
                    <a:pt x="0" y="685789"/>
                  </a:lnTo>
                  <a:close/>
                </a:path>
              </a:pathLst>
            </a:custGeom>
            <a:gradFill rotWithShape="true">
              <a:gsLst>
                <a:gs pos="0">
                  <a:srgbClr val="A72233">
                    <a:alpha val="100000"/>
                  </a:srgbClr>
                </a:gs>
                <a:gs pos="100000">
                  <a:srgbClr val="D68181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1977922" cy="71436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1172513" y="1965021"/>
            <a:ext cx="6086787" cy="6356958"/>
          </a:xfrm>
          <a:custGeom>
            <a:avLst/>
            <a:gdLst/>
            <a:ahLst/>
            <a:cxnLst/>
            <a:rect r="r" b="b" t="t" l="l"/>
            <a:pathLst>
              <a:path h="6356958" w="6086787">
                <a:moveTo>
                  <a:pt x="0" y="0"/>
                </a:moveTo>
                <a:lnTo>
                  <a:pt x="6086787" y="0"/>
                </a:lnTo>
                <a:lnTo>
                  <a:pt x="6086787" y="6356958"/>
                </a:lnTo>
                <a:lnTo>
                  <a:pt x="0" y="635695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28700" y="1152525"/>
            <a:ext cx="9325487" cy="8939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94"/>
              </a:lnSpc>
            </a:pPr>
            <a:r>
              <a:rPr lang="en-US" sz="6694">
                <a:solidFill>
                  <a:srgbClr val="A72233"/>
                </a:solidFill>
                <a:latin typeface="Archivo Black"/>
                <a:ea typeface="Archivo Black"/>
                <a:cs typeface="Archivo Black"/>
                <a:sym typeface="Archivo Black"/>
              </a:rPr>
              <a:t>IMPLEMENTATION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2604770"/>
            <a:ext cx="8316907" cy="5020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1334" indent="-280667" lvl="1">
              <a:lnSpc>
                <a:spcPts val="3639"/>
              </a:lnSpc>
              <a:buFont typeface="Arial"/>
              <a:buChar char="•"/>
            </a:pPr>
            <a:r>
              <a:rPr lang="en-US" b="true" sz="2599">
                <a:solidFill>
                  <a:srgbClr val="A7223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Coded in Python</a:t>
            </a:r>
          </a:p>
          <a:p>
            <a:pPr algn="l">
              <a:lnSpc>
                <a:spcPts val="3639"/>
              </a:lnSpc>
            </a:pPr>
          </a:p>
          <a:p>
            <a:pPr algn="l" marL="561334" indent="-280667" lvl="1">
              <a:lnSpc>
                <a:spcPts val="3639"/>
              </a:lnSpc>
              <a:buFont typeface="Arial"/>
              <a:buChar char="•"/>
            </a:pPr>
            <a:r>
              <a:rPr lang="en-US" b="true" sz="2599">
                <a:solidFill>
                  <a:srgbClr val="A7223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Search Algorithm: A*, through AIMA Library</a:t>
            </a:r>
          </a:p>
          <a:p>
            <a:pPr algn="l">
              <a:lnSpc>
                <a:spcPts val="3639"/>
              </a:lnSpc>
            </a:pPr>
          </a:p>
          <a:p>
            <a:pPr algn="l" marL="561334" indent="-280667" lvl="1">
              <a:lnSpc>
                <a:spcPts val="3639"/>
              </a:lnSpc>
              <a:buFont typeface="Arial"/>
              <a:buChar char="•"/>
            </a:pPr>
            <a:r>
              <a:rPr lang="en-US" b="true" sz="2599">
                <a:solidFill>
                  <a:srgbClr val="A7223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Heuristic function combines three aspects: Entropy, Remaining Time, Musical Energy</a:t>
            </a:r>
          </a:p>
          <a:p>
            <a:pPr algn="l">
              <a:lnSpc>
                <a:spcPts val="3639"/>
              </a:lnSpc>
            </a:pPr>
          </a:p>
          <a:p>
            <a:pPr algn="l" marL="561334" indent="-280667" lvl="1">
              <a:lnSpc>
                <a:spcPts val="3639"/>
              </a:lnSpc>
              <a:buFont typeface="Arial"/>
              <a:buChar char="•"/>
            </a:pPr>
            <a:r>
              <a:rPr lang="en-US" b="true" sz="2599">
                <a:solidFill>
                  <a:srgbClr val="A7223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Check if the preconditions are satisfied</a:t>
            </a:r>
          </a:p>
          <a:p>
            <a:pPr algn="l">
              <a:lnSpc>
                <a:spcPts val="3639"/>
              </a:lnSpc>
            </a:pPr>
          </a:p>
          <a:p>
            <a:pPr algn="l" marL="561334" indent="-280667" lvl="1">
              <a:lnSpc>
                <a:spcPts val="3639"/>
              </a:lnSpc>
              <a:buFont typeface="Arial"/>
              <a:buChar char="•"/>
            </a:pPr>
            <a:r>
              <a:rPr lang="en-US" b="true" sz="2599">
                <a:solidFill>
                  <a:srgbClr val="A7223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Avoid repeating moves</a:t>
            </a:r>
          </a:p>
          <a:p>
            <a:pPr algn="l">
              <a:lnSpc>
                <a:spcPts val="3639"/>
              </a:lnSpc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7945056" y="8809989"/>
            <a:ext cx="9314244" cy="448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9"/>
              </a:lnSpc>
              <a:spcBef>
                <a:spcPct val="0"/>
              </a:spcBef>
            </a:pPr>
            <a:r>
              <a:rPr lang="en-US" b="true" sz="2599">
                <a:solidFill>
                  <a:srgbClr val="A7223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Repo</a:t>
            </a:r>
            <a:r>
              <a:rPr lang="en-US" sz="2599">
                <a:solidFill>
                  <a:srgbClr val="A72233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599" u="sng">
                <a:solidFill>
                  <a:srgbClr val="A72233"/>
                </a:solidFill>
                <a:latin typeface="Open Sans"/>
                <a:ea typeface="Open Sans"/>
                <a:cs typeface="Open Sans"/>
                <a:sym typeface="Open Sans"/>
                <a:hlinkClick r:id="rId3" tooltip="https://github.com/LorenzoCollivaUnibo/BallaConNao/"/>
              </a:rPr>
              <a:t>https://github.com/LorenzoCollivaUnibo/BallaConNao</a:t>
            </a:r>
            <a:r>
              <a:rPr lang="en-US" sz="2599">
                <a:solidFill>
                  <a:srgbClr val="A72233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104805" y="2937645"/>
            <a:ext cx="12078390" cy="2205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80"/>
              </a:lnSpc>
            </a:pPr>
            <a:r>
              <a:rPr lang="en-US" sz="8480">
                <a:solidFill>
                  <a:srgbClr val="A72233"/>
                </a:solidFill>
                <a:latin typeface="Archivo Black"/>
                <a:ea typeface="Archivo Black"/>
                <a:cs typeface="Archivo Black"/>
                <a:sym typeface="Archivo Black"/>
              </a:rPr>
              <a:t>THANKS FOR THE ATTENTION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458605" y="5434677"/>
            <a:ext cx="5370790" cy="695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9"/>
              </a:lnSpc>
              <a:spcBef>
                <a:spcPct val="0"/>
              </a:spcBef>
            </a:pPr>
            <a:r>
              <a:rPr lang="en-US" b="true" sz="4099" i="true">
                <a:solidFill>
                  <a:srgbClr val="A72233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Now BALLA CON NAO!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DAG5DAJJ5W0</dc:identifier>
  <dcterms:modified xsi:type="dcterms:W3CDTF">2011-08-01T06:04:30Z</dcterms:modified>
  <cp:revision>1</cp:revision>
  <dc:title>NAOpresentao</dc:title>
</cp:coreProperties>
</file>