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Lst>
  <p:sldSz cx="18288000" cy="10287000"/>
  <p:notesSz cx="6858000" cy="9144000"/>
  <p:embeddedFontLst>
    <p:embeddedFont>
      <p:font typeface="Archivo Black" charset="1" panose="020B0A03020202020B04"/>
      <p:regular r:id="rId11"/>
    </p:embeddedFont>
    <p:embeddedFont>
      <p:font typeface="Open Sans Bold" charset="1" panose="00000000000000000000"/>
      <p:regular r:id="rId12"/>
    </p:embeddedFont>
    <p:embeddedFont>
      <p:font typeface="TT Supermolot Neue Bold" charset="1" panose="02000803030000020004"/>
      <p:regular r:id="rId13"/>
    </p:embeddedFont>
    <p:embeddedFont>
      <p:font typeface="Open Sans" charset="1" panose="00000000000000000000"/>
      <p:regular r:id="rId14"/>
    </p:embeddedFont>
    <p:embeddedFont>
      <p:font typeface="Open Sans Bold Italics" charset="1" panose="000000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https://github.com/LorenzoCollivaUnibo/BallaConNao/" TargetMode="External" Type="http://schemas.openxmlformats.org/officeDocument/2006/relationships/hyperlink"/></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1460004" y="0"/>
            <a:ext cx="6827996" cy="10287000"/>
          </a:xfrm>
          <a:custGeom>
            <a:avLst/>
            <a:gdLst/>
            <a:ahLst/>
            <a:cxnLst/>
            <a:rect r="r" b="b" t="t" l="l"/>
            <a:pathLst>
              <a:path h="10287000" w="6827996">
                <a:moveTo>
                  <a:pt x="0" y="0"/>
                </a:moveTo>
                <a:lnTo>
                  <a:pt x="6827996" y="0"/>
                </a:lnTo>
                <a:lnTo>
                  <a:pt x="6827996"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040081" y="4861053"/>
            <a:ext cx="12500084" cy="6425971"/>
          </a:xfrm>
          <a:custGeom>
            <a:avLst/>
            <a:gdLst/>
            <a:ahLst/>
            <a:cxnLst/>
            <a:rect r="r" b="b" t="t" l="l"/>
            <a:pathLst>
              <a:path h="6425971" w="12500084">
                <a:moveTo>
                  <a:pt x="0" y="0"/>
                </a:moveTo>
                <a:lnTo>
                  <a:pt x="12500085" y="0"/>
                </a:lnTo>
                <a:lnTo>
                  <a:pt x="12500085" y="6425971"/>
                </a:lnTo>
                <a:lnTo>
                  <a:pt x="0" y="6425971"/>
                </a:lnTo>
                <a:lnTo>
                  <a:pt x="0" y="0"/>
                </a:lnTo>
                <a:close/>
              </a:path>
            </a:pathLst>
          </a:custGeom>
          <a:blipFill>
            <a:blip r:embed="rId3"/>
            <a:stretch>
              <a:fillRect l="-17046" t="0" r="-192" b="-14502"/>
            </a:stretch>
          </a:blipFill>
        </p:spPr>
      </p:sp>
      <p:grpSp>
        <p:nvGrpSpPr>
          <p:cNvPr name="Group 4" id="4"/>
          <p:cNvGrpSpPr/>
          <p:nvPr/>
        </p:nvGrpSpPr>
        <p:grpSpPr>
          <a:xfrm rot="0">
            <a:off x="0" y="8379732"/>
            <a:ext cx="11460004" cy="1907268"/>
            <a:chOff x="0" y="0"/>
            <a:chExt cx="3018273" cy="502326"/>
          </a:xfrm>
        </p:grpSpPr>
        <p:sp>
          <p:nvSpPr>
            <p:cNvPr name="Freeform 5" id="5"/>
            <p:cNvSpPr/>
            <p:nvPr/>
          </p:nvSpPr>
          <p:spPr>
            <a:xfrm flipH="false" flipV="false" rot="0">
              <a:off x="0" y="0"/>
              <a:ext cx="3018273" cy="502326"/>
            </a:xfrm>
            <a:custGeom>
              <a:avLst/>
              <a:gdLst/>
              <a:ahLst/>
              <a:cxnLst/>
              <a:rect r="r" b="b" t="t" l="l"/>
              <a:pathLst>
                <a:path h="502326" w="3018273">
                  <a:moveTo>
                    <a:pt x="0" y="0"/>
                  </a:moveTo>
                  <a:lnTo>
                    <a:pt x="3018273" y="0"/>
                  </a:lnTo>
                  <a:lnTo>
                    <a:pt x="3018273" y="502326"/>
                  </a:lnTo>
                  <a:lnTo>
                    <a:pt x="0" y="502326"/>
                  </a:lnTo>
                  <a:close/>
                </a:path>
              </a:pathLst>
            </a:custGeom>
            <a:gradFill rotWithShape="true">
              <a:gsLst>
                <a:gs pos="0">
                  <a:srgbClr val="A72233">
                    <a:alpha val="100000"/>
                  </a:srgbClr>
                </a:gs>
                <a:gs pos="100000">
                  <a:srgbClr val="D68181">
                    <a:alpha val="100000"/>
                  </a:srgbClr>
                </a:gs>
              </a:gsLst>
              <a:lin ang="0"/>
            </a:gradFill>
          </p:spPr>
        </p:sp>
        <p:sp>
          <p:nvSpPr>
            <p:cNvPr name="TextBox 6" id="6"/>
            <p:cNvSpPr txBox="true"/>
            <p:nvPr/>
          </p:nvSpPr>
          <p:spPr>
            <a:xfrm>
              <a:off x="0" y="-28575"/>
              <a:ext cx="3018273" cy="530901"/>
            </a:xfrm>
            <a:prstGeom prst="rect">
              <a:avLst/>
            </a:prstGeom>
          </p:spPr>
          <p:txBody>
            <a:bodyPr anchor="ctr" rtlCol="false" tIns="50800" lIns="50800" bIns="50800" rIns="50800"/>
            <a:lstStyle/>
            <a:p>
              <a:pPr algn="ctr">
                <a:lnSpc>
                  <a:spcPts val="2519"/>
                </a:lnSpc>
              </a:pPr>
            </a:p>
          </p:txBody>
        </p:sp>
      </p:grpSp>
      <p:sp>
        <p:nvSpPr>
          <p:cNvPr name="TextBox 7" id="7"/>
          <p:cNvSpPr txBox="true"/>
          <p:nvPr/>
        </p:nvSpPr>
        <p:spPr>
          <a:xfrm rot="0">
            <a:off x="1028700" y="279383"/>
            <a:ext cx="14500846" cy="2829595"/>
          </a:xfrm>
          <a:prstGeom prst="rect">
            <a:avLst/>
          </a:prstGeom>
        </p:spPr>
        <p:txBody>
          <a:bodyPr anchor="t" rtlCol="false" tIns="0" lIns="0" bIns="0" rIns="0">
            <a:spAutoFit/>
          </a:bodyPr>
          <a:lstStyle/>
          <a:p>
            <a:pPr algn="l">
              <a:lnSpc>
                <a:spcPts val="11379"/>
              </a:lnSpc>
              <a:spcBef>
                <a:spcPct val="0"/>
              </a:spcBef>
            </a:pPr>
            <a:r>
              <a:rPr lang="en-US" sz="8128">
                <a:solidFill>
                  <a:srgbClr val="A72233"/>
                </a:solidFill>
                <a:latin typeface="Archivo Black"/>
                <a:ea typeface="Archivo Black"/>
                <a:cs typeface="Archivo Black"/>
                <a:sym typeface="Archivo Black"/>
              </a:rPr>
              <a:t>NAO PLANNING CHALLENGE 2025</a:t>
            </a:r>
          </a:p>
        </p:txBody>
      </p:sp>
      <p:sp>
        <p:nvSpPr>
          <p:cNvPr name="TextBox 8" id="8"/>
          <p:cNvSpPr txBox="true"/>
          <p:nvPr/>
        </p:nvSpPr>
        <p:spPr>
          <a:xfrm rot="0">
            <a:off x="1028700" y="3566923"/>
            <a:ext cx="3322090" cy="789306"/>
          </a:xfrm>
          <a:prstGeom prst="rect">
            <a:avLst/>
          </a:prstGeom>
        </p:spPr>
        <p:txBody>
          <a:bodyPr anchor="t" rtlCol="false" tIns="0" lIns="0" bIns="0" rIns="0">
            <a:spAutoFit/>
          </a:bodyPr>
          <a:lstStyle/>
          <a:p>
            <a:pPr algn="l">
              <a:lnSpc>
                <a:spcPts val="3219"/>
              </a:lnSpc>
            </a:pPr>
            <a:r>
              <a:rPr lang="en-US" b="true" sz="2299">
                <a:solidFill>
                  <a:srgbClr val="A72233"/>
                </a:solidFill>
                <a:latin typeface="Open Sans Bold"/>
                <a:ea typeface="Open Sans Bold"/>
                <a:cs typeface="Open Sans Bold"/>
                <a:sym typeface="Open Sans Bold"/>
              </a:rPr>
              <a:t>LORENZO COLLIVA</a:t>
            </a:r>
          </a:p>
          <a:p>
            <a:pPr algn="l">
              <a:lnSpc>
                <a:spcPts val="3219"/>
              </a:lnSpc>
              <a:spcBef>
                <a:spcPct val="0"/>
              </a:spcBef>
            </a:pPr>
            <a:r>
              <a:rPr lang="en-US" b="true" sz="2299">
                <a:solidFill>
                  <a:srgbClr val="A72233"/>
                </a:solidFill>
                <a:latin typeface="Open Sans Bold"/>
                <a:ea typeface="Open Sans Bold"/>
                <a:cs typeface="Open Sans Bold"/>
                <a:sym typeface="Open Sans Bold"/>
              </a:rPr>
              <a:t>GIADA DE MICCO</a:t>
            </a:r>
          </a:p>
        </p:txBody>
      </p:sp>
      <p:sp>
        <p:nvSpPr>
          <p:cNvPr name="TextBox 9" id="9"/>
          <p:cNvSpPr txBox="true"/>
          <p:nvPr/>
        </p:nvSpPr>
        <p:spPr>
          <a:xfrm rot="0">
            <a:off x="3694212" y="8785360"/>
            <a:ext cx="4071580" cy="972188"/>
          </a:xfrm>
          <a:prstGeom prst="rect">
            <a:avLst/>
          </a:prstGeom>
        </p:spPr>
        <p:txBody>
          <a:bodyPr anchor="t" rtlCol="false" tIns="0" lIns="0" bIns="0" rIns="0">
            <a:spAutoFit/>
          </a:bodyPr>
          <a:lstStyle/>
          <a:p>
            <a:pPr algn="ctr">
              <a:lnSpc>
                <a:spcPts val="7839"/>
              </a:lnSpc>
              <a:spcBef>
                <a:spcPct val="0"/>
              </a:spcBef>
            </a:pPr>
            <a:r>
              <a:rPr lang="en-US" b="true" sz="5599">
                <a:solidFill>
                  <a:srgbClr val="FFFFFF"/>
                </a:solidFill>
                <a:latin typeface="TT Supermolot Neue Bold"/>
                <a:ea typeface="TT Supermolot Neue Bold"/>
                <a:cs typeface="TT Supermolot Neue Bold"/>
                <a:sym typeface="TT Supermolot Neue Bold"/>
              </a:rPr>
              <a:t>BallaConNAO</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4219653"/>
            <a:ext cx="6482715" cy="6067347"/>
            <a:chOff x="0" y="0"/>
            <a:chExt cx="1707382" cy="1597984"/>
          </a:xfrm>
        </p:grpSpPr>
        <p:sp>
          <p:nvSpPr>
            <p:cNvPr name="Freeform 3" id="3"/>
            <p:cNvSpPr/>
            <p:nvPr/>
          </p:nvSpPr>
          <p:spPr>
            <a:xfrm flipH="false" flipV="false" rot="0">
              <a:off x="0" y="0"/>
              <a:ext cx="1707382" cy="1597984"/>
            </a:xfrm>
            <a:custGeom>
              <a:avLst/>
              <a:gdLst/>
              <a:ahLst/>
              <a:cxnLst/>
              <a:rect r="r" b="b" t="t" l="l"/>
              <a:pathLst>
                <a:path h="1597984" w="1707382">
                  <a:moveTo>
                    <a:pt x="0" y="0"/>
                  </a:moveTo>
                  <a:lnTo>
                    <a:pt x="1707382" y="0"/>
                  </a:lnTo>
                  <a:lnTo>
                    <a:pt x="1707382" y="1597984"/>
                  </a:lnTo>
                  <a:lnTo>
                    <a:pt x="0" y="1597984"/>
                  </a:lnTo>
                  <a:close/>
                </a:path>
              </a:pathLst>
            </a:custGeom>
            <a:gradFill rotWithShape="true">
              <a:gsLst>
                <a:gs pos="0">
                  <a:srgbClr val="A72233">
                    <a:alpha val="100000"/>
                  </a:srgbClr>
                </a:gs>
                <a:gs pos="100000">
                  <a:srgbClr val="D68181">
                    <a:alpha val="100000"/>
                  </a:srgbClr>
                </a:gs>
              </a:gsLst>
              <a:lin ang="0"/>
            </a:gradFill>
          </p:spPr>
        </p:sp>
        <p:sp>
          <p:nvSpPr>
            <p:cNvPr name="TextBox 4" id="4"/>
            <p:cNvSpPr txBox="true"/>
            <p:nvPr/>
          </p:nvSpPr>
          <p:spPr>
            <a:xfrm>
              <a:off x="0" y="-28575"/>
              <a:ext cx="1707382" cy="1626559"/>
            </a:xfrm>
            <a:prstGeom prst="rect">
              <a:avLst/>
            </a:prstGeom>
          </p:spPr>
          <p:txBody>
            <a:bodyPr anchor="ctr" rtlCol="false" tIns="50800" lIns="50800" bIns="50800" rIns="50800"/>
            <a:lstStyle/>
            <a:p>
              <a:pPr algn="ctr">
                <a:lnSpc>
                  <a:spcPts val="2519"/>
                </a:lnSpc>
              </a:pPr>
            </a:p>
          </p:txBody>
        </p:sp>
      </p:grpSp>
      <p:grpSp>
        <p:nvGrpSpPr>
          <p:cNvPr name="Group 5" id="5"/>
          <p:cNvGrpSpPr/>
          <p:nvPr/>
        </p:nvGrpSpPr>
        <p:grpSpPr>
          <a:xfrm rot="0">
            <a:off x="1661921" y="1638161"/>
            <a:ext cx="8168532" cy="6677314"/>
            <a:chOff x="0" y="0"/>
            <a:chExt cx="1328700" cy="1086137"/>
          </a:xfrm>
        </p:grpSpPr>
        <p:sp>
          <p:nvSpPr>
            <p:cNvPr name="Freeform 6" id="6"/>
            <p:cNvSpPr/>
            <p:nvPr/>
          </p:nvSpPr>
          <p:spPr>
            <a:xfrm flipH="false" flipV="false" rot="0">
              <a:off x="0" y="0"/>
              <a:ext cx="1328700" cy="1086137"/>
            </a:xfrm>
            <a:custGeom>
              <a:avLst/>
              <a:gdLst/>
              <a:ahLst/>
              <a:cxnLst/>
              <a:rect r="r" b="b" t="t" l="l"/>
              <a:pathLst>
                <a:path h="1086137" w="1328700">
                  <a:moveTo>
                    <a:pt x="0" y="0"/>
                  </a:moveTo>
                  <a:lnTo>
                    <a:pt x="1328700" y="0"/>
                  </a:lnTo>
                  <a:lnTo>
                    <a:pt x="1328700" y="1086137"/>
                  </a:lnTo>
                  <a:lnTo>
                    <a:pt x="0" y="1086137"/>
                  </a:lnTo>
                  <a:close/>
                </a:path>
              </a:pathLst>
            </a:custGeom>
            <a:blipFill>
              <a:blip r:embed="rId2"/>
              <a:stretch>
                <a:fillRect l="0" t="-11166" r="0" b="-11166"/>
              </a:stretch>
            </a:blipFill>
          </p:spPr>
        </p:sp>
      </p:grpSp>
      <p:sp>
        <p:nvSpPr>
          <p:cNvPr name="Freeform 7" id="7"/>
          <p:cNvSpPr/>
          <p:nvPr/>
        </p:nvSpPr>
        <p:spPr>
          <a:xfrm flipH="false" flipV="false" rot="0">
            <a:off x="12320500" y="4843266"/>
            <a:ext cx="3472210" cy="3472210"/>
          </a:xfrm>
          <a:custGeom>
            <a:avLst/>
            <a:gdLst/>
            <a:ahLst/>
            <a:cxnLst/>
            <a:rect r="r" b="b" t="t" l="l"/>
            <a:pathLst>
              <a:path h="3472210" w="3472210">
                <a:moveTo>
                  <a:pt x="0" y="0"/>
                </a:moveTo>
                <a:lnTo>
                  <a:pt x="3472210" y="0"/>
                </a:lnTo>
                <a:lnTo>
                  <a:pt x="3472210" y="3472210"/>
                </a:lnTo>
                <a:lnTo>
                  <a:pt x="0" y="3472210"/>
                </a:lnTo>
                <a:lnTo>
                  <a:pt x="0" y="0"/>
                </a:lnTo>
                <a:close/>
              </a:path>
            </a:pathLst>
          </a:custGeom>
          <a:blipFill>
            <a:blip r:embed="rId3"/>
            <a:stretch>
              <a:fillRect l="0" t="0" r="0" b="0"/>
            </a:stretch>
          </a:blipFill>
        </p:spPr>
      </p:sp>
      <p:sp>
        <p:nvSpPr>
          <p:cNvPr name="TextBox 8" id="8"/>
          <p:cNvSpPr txBox="true"/>
          <p:nvPr/>
        </p:nvSpPr>
        <p:spPr>
          <a:xfrm rot="0">
            <a:off x="10460501" y="1742936"/>
            <a:ext cx="6798799" cy="1593084"/>
          </a:xfrm>
          <a:prstGeom prst="rect">
            <a:avLst/>
          </a:prstGeom>
        </p:spPr>
        <p:txBody>
          <a:bodyPr anchor="t" rtlCol="false" tIns="0" lIns="0" bIns="0" rIns="0">
            <a:spAutoFit/>
          </a:bodyPr>
          <a:lstStyle/>
          <a:p>
            <a:pPr algn="l">
              <a:lnSpc>
                <a:spcPts val="6094"/>
              </a:lnSpc>
            </a:pPr>
            <a:r>
              <a:rPr lang="en-US" sz="6094">
                <a:solidFill>
                  <a:srgbClr val="A72233"/>
                </a:solidFill>
                <a:latin typeface="Archivo Black"/>
                <a:ea typeface="Archivo Black"/>
                <a:cs typeface="Archivo Black"/>
                <a:sym typeface="Archivo Black"/>
              </a:rPr>
              <a:t>DANCE COREOGRAPHY</a:t>
            </a:r>
          </a:p>
        </p:txBody>
      </p:sp>
      <p:sp>
        <p:nvSpPr>
          <p:cNvPr name="TextBox 9" id="9"/>
          <p:cNvSpPr txBox="true"/>
          <p:nvPr/>
        </p:nvSpPr>
        <p:spPr>
          <a:xfrm rot="0">
            <a:off x="10460501" y="3608313"/>
            <a:ext cx="6798799" cy="1362711"/>
          </a:xfrm>
          <a:prstGeom prst="rect">
            <a:avLst/>
          </a:prstGeom>
        </p:spPr>
        <p:txBody>
          <a:bodyPr anchor="t" rtlCol="false" tIns="0" lIns="0" bIns="0" rIns="0">
            <a:spAutoFit/>
          </a:bodyPr>
          <a:lstStyle/>
          <a:p>
            <a:pPr algn="l">
              <a:lnSpc>
                <a:spcPts val="3639"/>
              </a:lnSpc>
            </a:pPr>
            <a:r>
              <a:rPr lang="en-US" sz="2599" b="true">
                <a:solidFill>
                  <a:srgbClr val="A72233"/>
                </a:solidFill>
                <a:latin typeface="Open Sans Bold"/>
                <a:ea typeface="Open Sans Bold"/>
                <a:cs typeface="Open Sans Bold"/>
                <a:sym typeface="Open Sans Bold"/>
              </a:rPr>
              <a:t>Reggaeton Song:  Muevelou - Natanael cano</a:t>
            </a:r>
          </a:p>
          <a:p>
            <a:pPr algn="l">
              <a:lnSpc>
                <a:spcPts val="3639"/>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43531" y="4568278"/>
            <a:ext cx="12715769" cy="4690022"/>
          </a:xfrm>
          <a:custGeom>
            <a:avLst/>
            <a:gdLst/>
            <a:ahLst/>
            <a:cxnLst/>
            <a:rect r="r" b="b" t="t" l="l"/>
            <a:pathLst>
              <a:path h="4690022" w="12715769">
                <a:moveTo>
                  <a:pt x="0" y="0"/>
                </a:moveTo>
                <a:lnTo>
                  <a:pt x="12715769" y="0"/>
                </a:lnTo>
                <a:lnTo>
                  <a:pt x="12715769" y="4690022"/>
                </a:lnTo>
                <a:lnTo>
                  <a:pt x="0" y="4690022"/>
                </a:lnTo>
                <a:lnTo>
                  <a:pt x="0" y="0"/>
                </a:lnTo>
                <a:close/>
              </a:path>
            </a:pathLst>
          </a:custGeom>
          <a:blipFill>
            <a:blip r:embed="rId2"/>
            <a:stretch>
              <a:fillRect l="0" t="-6258" r="0" b="-6258"/>
            </a:stretch>
          </a:blipFill>
        </p:spPr>
      </p:sp>
      <p:grpSp>
        <p:nvGrpSpPr>
          <p:cNvPr name="Group 3" id="3"/>
          <p:cNvGrpSpPr/>
          <p:nvPr/>
        </p:nvGrpSpPr>
        <p:grpSpPr>
          <a:xfrm rot="0">
            <a:off x="-2870128" y="3705861"/>
            <a:ext cx="6990205" cy="6581139"/>
            <a:chOff x="0" y="0"/>
            <a:chExt cx="1841042" cy="1733304"/>
          </a:xfrm>
        </p:grpSpPr>
        <p:sp>
          <p:nvSpPr>
            <p:cNvPr name="Freeform 4" id="4"/>
            <p:cNvSpPr/>
            <p:nvPr/>
          </p:nvSpPr>
          <p:spPr>
            <a:xfrm flipH="false" flipV="false" rot="0">
              <a:off x="0" y="0"/>
              <a:ext cx="1841042" cy="1733304"/>
            </a:xfrm>
            <a:custGeom>
              <a:avLst/>
              <a:gdLst/>
              <a:ahLst/>
              <a:cxnLst/>
              <a:rect r="r" b="b" t="t" l="l"/>
              <a:pathLst>
                <a:path h="1733304" w="1841042">
                  <a:moveTo>
                    <a:pt x="0" y="0"/>
                  </a:moveTo>
                  <a:lnTo>
                    <a:pt x="1841042" y="0"/>
                  </a:lnTo>
                  <a:lnTo>
                    <a:pt x="1841042" y="1733304"/>
                  </a:lnTo>
                  <a:lnTo>
                    <a:pt x="0" y="1733304"/>
                  </a:lnTo>
                  <a:close/>
                </a:path>
              </a:pathLst>
            </a:custGeom>
            <a:gradFill rotWithShape="true">
              <a:gsLst>
                <a:gs pos="0">
                  <a:srgbClr val="A72233">
                    <a:alpha val="100000"/>
                  </a:srgbClr>
                </a:gs>
                <a:gs pos="100000">
                  <a:srgbClr val="D68181">
                    <a:alpha val="100000"/>
                  </a:srgbClr>
                </a:gs>
              </a:gsLst>
              <a:lin ang="5400000"/>
            </a:gradFill>
          </p:spPr>
        </p:sp>
        <p:sp>
          <p:nvSpPr>
            <p:cNvPr name="TextBox 5" id="5"/>
            <p:cNvSpPr txBox="true"/>
            <p:nvPr/>
          </p:nvSpPr>
          <p:spPr>
            <a:xfrm>
              <a:off x="0" y="-28575"/>
              <a:ext cx="1841042" cy="1761879"/>
            </a:xfrm>
            <a:prstGeom prst="rect">
              <a:avLst/>
            </a:prstGeom>
          </p:spPr>
          <p:txBody>
            <a:bodyPr anchor="ctr" rtlCol="false" tIns="50800" lIns="50800" bIns="50800" rIns="50800"/>
            <a:lstStyle/>
            <a:p>
              <a:pPr algn="ctr">
                <a:lnSpc>
                  <a:spcPts val="2519"/>
                </a:lnSpc>
              </a:pPr>
            </a:p>
          </p:txBody>
        </p:sp>
      </p:grpSp>
      <p:sp>
        <p:nvSpPr>
          <p:cNvPr name="Freeform 6" id="6"/>
          <p:cNvSpPr/>
          <p:nvPr/>
        </p:nvSpPr>
        <p:spPr>
          <a:xfrm flipH="false" flipV="false" rot="0">
            <a:off x="166299" y="3849378"/>
            <a:ext cx="3727098" cy="6294105"/>
          </a:xfrm>
          <a:custGeom>
            <a:avLst/>
            <a:gdLst/>
            <a:ahLst/>
            <a:cxnLst/>
            <a:rect r="r" b="b" t="t" l="l"/>
            <a:pathLst>
              <a:path h="6294105" w="3727098">
                <a:moveTo>
                  <a:pt x="0" y="0"/>
                </a:moveTo>
                <a:lnTo>
                  <a:pt x="3727098" y="0"/>
                </a:lnTo>
                <a:lnTo>
                  <a:pt x="3727098" y="6294105"/>
                </a:lnTo>
                <a:lnTo>
                  <a:pt x="0" y="6294105"/>
                </a:lnTo>
                <a:lnTo>
                  <a:pt x="0" y="0"/>
                </a:lnTo>
                <a:close/>
              </a:path>
            </a:pathLst>
          </a:custGeom>
          <a:blipFill>
            <a:blip r:embed="rId3"/>
            <a:stretch>
              <a:fillRect l="0" t="0" r="0" b="0"/>
            </a:stretch>
          </a:blipFill>
        </p:spPr>
      </p:sp>
      <p:sp>
        <p:nvSpPr>
          <p:cNvPr name="TextBox 7" id="7"/>
          <p:cNvSpPr txBox="true"/>
          <p:nvPr/>
        </p:nvSpPr>
        <p:spPr>
          <a:xfrm rot="0">
            <a:off x="1028700" y="1152525"/>
            <a:ext cx="7328449" cy="1741673"/>
          </a:xfrm>
          <a:prstGeom prst="rect">
            <a:avLst/>
          </a:prstGeom>
        </p:spPr>
        <p:txBody>
          <a:bodyPr anchor="t" rtlCol="false" tIns="0" lIns="0" bIns="0" rIns="0">
            <a:spAutoFit/>
          </a:bodyPr>
          <a:lstStyle/>
          <a:p>
            <a:pPr algn="l">
              <a:lnSpc>
                <a:spcPts val="6694"/>
              </a:lnSpc>
            </a:pPr>
            <a:r>
              <a:rPr lang="en-US" sz="6694">
                <a:solidFill>
                  <a:srgbClr val="A72233"/>
                </a:solidFill>
                <a:latin typeface="Archivo Black"/>
                <a:ea typeface="Archivo Black"/>
                <a:cs typeface="Archivo Black"/>
                <a:sym typeface="Archivo Black"/>
              </a:rPr>
              <a:t>COMPETITION RULES</a:t>
            </a:r>
          </a:p>
        </p:txBody>
      </p:sp>
      <p:sp>
        <p:nvSpPr>
          <p:cNvPr name="TextBox 8" id="8"/>
          <p:cNvSpPr txBox="true"/>
          <p:nvPr/>
        </p:nvSpPr>
        <p:spPr>
          <a:xfrm rot="0">
            <a:off x="10230561" y="971550"/>
            <a:ext cx="7028739" cy="2734311"/>
          </a:xfrm>
          <a:prstGeom prst="rect">
            <a:avLst/>
          </a:prstGeom>
        </p:spPr>
        <p:txBody>
          <a:bodyPr anchor="t" rtlCol="false" tIns="0" lIns="0" bIns="0" rIns="0">
            <a:spAutoFit/>
          </a:bodyPr>
          <a:lstStyle/>
          <a:p>
            <a:pPr algn="l" marL="561334" indent="-280667" lvl="1">
              <a:lnSpc>
                <a:spcPts val="3639"/>
              </a:lnSpc>
              <a:buFont typeface="Arial"/>
              <a:buChar char="•"/>
            </a:pPr>
            <a:r>
              <a:rPr lang="en-US" b="true" sz="2599">
                <a:solidFill>
                  <a:srgbClr val="A72233"/>
                </a:solidFill>
                <a:latin typeface="Open Sans Bold"/>
                <a:ea typeface="Open Sans Bold"/>
                <a:cs typeface="Open Sans Bold"/>
                <a:sym typeface="Open Sans Bold"/>
              </a:rPr>
              <a:t>Total time of choreography 2 minutes</a:t>
            </a:r>
          </a:p>
          <a:p>
            <a:pPr algn="l" marL="561334" indent="-280667" lvl="1">
              <a:lnSpc>
                <a:spcPts val="3639"/>
              </a:lnSpc>
              <a:buFont typeface="Arial"/>
              <a:buChar char="•"/>
            </a:pPr>
            <a:r>
              <a:rPr lang="en-US" b="true" sz="2599">
                <a:solidFill>
                  <a:srgbClr val="A72233"/>
                </a:solidFill>
                <a:latin typeface="Open Sans Bold"/>
                <a:ea typeface="Open Sans Bold"/>
                <a:cs typeface="Open Sans Bold"/>
                <a:sym typeface="Open Sans Bold"/>
              </a:rPr>
              <a:t>Initial state (StandInit)</a:t>
            </a:r>
          </a:p>
          <a:p>
            <a:pPr algn="l" marL="561334" indent="-280667" lvl="1">
              <a:lnSpc>
                <a:spcPts val="3639"/>
              </a:lnSpc>
              <a:buFont typeface="Arial"/>
              <a:buChar char="•"/>
            </a:pPr>
            <a:r>
              <a:rPr lang="en-US" b="true" sz="2599">
                <a:solidFill>
                  <a:srgbClr val="A72233"/>
                </a:solidFill>
                <a:latin typeface="Open Sans Bold"/>
                <a:ea typeface="Open Sans Bold"/>
                <a:cs typeface="Open Sans Bold"/>
                <a:sym typeface="Open Sans Bold"/>
              </a:rPr>
              <a:t>Goal (Crouch)</a:t>
            </a:r>
          </a:p>
          <a:p>
            <a:pPr algn="l" marL="561334" indent="-280667" lvl="1">
              <a:lnSpc>
                <a:spcPts val="3639"/>
              </a:lnSpc>
              <a:buFont typeface="Arial"/>
              <a:buChar char="•"/>
            </a:pPr>
            <a:r>
              <a:rPr lang="en-US" b="true" sz="2599">
                <a:solidFill>
                  <a:srgbClr val="A72233"/>
                </a:solidFill>
                <a:latin typeface="Open Sans Bold"/>
                <a:ea typeface="Open Sans Bold"/>
                <a:cs typeface="Open Sans Bold"/>
                <a:sym typeface="Open Sans Bold"/>
              </a:rPr>
              <a:t>6 mandatory positions</a:t>
            </a:r>
          </a:p>
          <a:p>
            <a:pPr algn="l" marL="561334" indent="-280667" lvl="1">
              <a:lnSpc>
                <a:spcPts val="3639"/>
              </a:lnSpc>
              <a:buFont typeface="Arial"/>
              <a:buChar char="•"/>
            </a:pPr>
            <a:r>
              <a:rPr lang="en-US" b="true" sz="2599">
                <a:solidFill>
                  <a:srgbClr val="A72233"/>
                </a:solidFill>
                <a:latin typeface="Open Sans Bold"/>
                <a:ea typeface="Open Sans Bold"/>
                <a:cs typeface="Open Sans Bold"/>
                <a:sym typeface="Open Sans Bold"/>
              </a:rPr>
              <a:t>At least 5 intermediate positions selected by the algorithm</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778076" y="3841572"/>
            <a:ext cx="7509924" cy="2603857"/>
            <a:chOff x="0" y="0"/>
            <a:chExt cx="1977922" cy="685789"/>
          </a:xfrm>
        </p:grpSpPr>
        <p:sp>
          <p:nvSpPr>
            <p:cNvPr name="Freeform 3" id="3"/>
            <p:cNvSpPr/>
            <p:nvPr/>
          </p:nvSpPr>
          <p:spPr>
            <a:xfrm flipH="false" flipV="false" rot="0">
              <a:off x="0" y="0"/>
              <a:ext cx="1977922" cy="685789"/>
            </a:xfrm>
            <a:custGeom>
              <a:avLst/>
              <a:gdLst/>
              <a:ahLst/>
              <a:cxnLst/>
              <a:rect r="r" b="b" t="t" l="l"/>
              <a:pathLst>
                <a:path h="685789" w="1977922">
                  <a:moveTo>
                    <a:pt x="0" y="0"/>
                  </a:moveTo>
                  <a:lnTo>
                    <a:pt x="1977922" y="0"/>
                  </a:lnTo>
                  <a:lnTo>
                    <a:pt x="1977922" y="685789"/>
                  </a:lnTo>
                  <a:lnTo>
                    <a:pt x="0" y="685789"/>
                  </a:lnTo>
                  <a:close/>
                </a:path>
              </a:pathLst>
            </a:custGeom>
            <a:gradFill rotWithShape="true">
              <a:gsLst>
                <a:gs pos="0">
                  <a:srgbClr val="A72233">
                    <a:alpha val="100000"/>
                  </a:srgbClr>
                </a:gs>
                <a:gs pos="100000">
                  <a:srgbClr val="D68181">
                    <a:alpha val="100000"/>
                  </a:srgbClr>
                </a:gs>
              </a:gsLst>
              <a:lin ang="5400000"/>
            </a:gradFill>
          </p:spPr>
        </p:sp>
        <p:sp>
          <p:nvSpPr>
            <p:cNvPr name="TextBox 4" id="4"/>
            <p:cNvSpPr txBox="true"/>
            <p:nvPr/>
          </p:nvSpPr>
          <p:spPr>
            <a:xfrm>
              <a:off x="0" y="-28575"/>
              <a:ext cx="1977922" cy="714364"/>
            </a:xfrm>
            <a:prstGeom prst="rect">
              <a:avLst/>
            </a:prstGeom>
          </p:spPr>
          <p:txBody>
            <a:bodyPr anchor="ctr" rtlCol="false" tIns="50800" lIns="50800" bIns="50800" rIns="50800"/>
            <a:lstStyle/>
            <a:p>
              <a:pPr algn="ctr">
                <a:lnSpc>
                  <a:spcPts val="2519"/>
                </a:lnSpc>
              </a:pPr>
            </a:p>
          </p:txBody>
        </p:sp>
      </p:grpSp>
      <p:sp>
        <p:nvSpPr>
          <p:cNvPr name="Freeform 5" id="5"/>
          <p:cNvSpPr/>
          <p:nvPr/>
        </p:nvSpPr>
        <p:spPr>
          <a:xfrm flipH="false" flipV="false" rot="0">
            <a:off x="11172513" y="1965021"/>
            <a:ext cx="6086787" cy="6356958"/>
          </a:xfrm>
          <a:custGeom>
            <a:avLst/>
            <a:gdLst/>
            <a:ahLst/>
            <a:cxnLst/>
            <a:rect r="r" b="b" t="t" l="l"/>
            <a:pathLst>
              <a:path h="6356958" w="6086787">
                <a:moveTo>
                  <a:pt x="0" y="0"/>
                </a:moveTo>
                <a:lnTo>
                  <a:pt x="6086787" y="0"/>
                </a:lnTo>
                <a:lnTo>
                  <a:pt x="6086787" y="6356958"/>
                </a:lnTo>
                <a:lnTo>
                  <a:pt x="0" y="6356958"/>
                </a:lnTo>
                <a:lnTo>
                  <a:pt x="0" y="0"/>
                </a:lnTo>
                <a:close/>
              </a:path>
            </a:pathLst>
          </a:custGeom>
          <a:blipFill>
            <a:blip r:embed="rId2"/>
            <a:stretch>
              <a:fillRect l="0" t="0" r="0" b="0"/>
            </a:stretch>
          </a:blipFill>
        </p:spPr>
      </p:sp>
      <p:sp>
        <p:nvSpPr>
          <p:cNvPr name="TextBox 6" id="6"/>
          <p:cNvSpPr txBox="true"/>
          <p:nvPr/>
        </p:nvSpPr>
        <p:spPr>
          <a:xfrm rot="0">
            <a:off x="1028700" y="1152525"/>
            <a:ext cx="9325487" cy="893948"/>
          </a:xfrm>
          <a:prstGeom prst="rect">
            <a:avLst/>
          </a:prstGeom>
        </p:spPr>
        <p:txBody>
          <a:bodyPr anchor="t" rtlCol="false" tIns="0" lIns="0" bIns="0" rIns="0">
            <a:spAutoFit/>
          </a:bodyPr>
          <a:lstStyle/>
          <a:p>
            <a:pPr algn="l">
              <a:lnSpc>
                <a:spcPts val="6694"/>
              </a:lnSpc>
            </a:pPr>
            <a:r>
              <a:rPr lang="en-US" sz="6694">
                <a:solidFill>
                  <a:srgbClr val="A72233"/>
                </a:solidFill>
                <a:latin typeface="Archivo Black"/>
                <a:ea typeface="Archivo Black"/>
                <a:cs typeface="Archivo Black"/>
                <a:sym typeface="Archivo Black"/>
              </a:rPr>
              <a:t>IMPLEMENTATION</a:t>
            </a:r>
          </a:p>
        </p:txBody>
      </p:sp>
      <p:sp>
        <p:nvSpPr>
          <p:cNvPr name="TextBox 7" id="7"/>
          <p:cNvSpPr txBox="true"/>
          <p:nvPr/>
        </p:nvSpPr>
        <p:spPr>
          <a:xfrm rot="0">
            <a:off x="1028700" y="2604770"/>
            <a:ext cx="8316907" cy="5020311"/>
          </a:xfrm>
          <a:prstGeom prst="rect">
            <a:avLst/>
          </a:prstGeom>
        </p:spPr>
        <p:txBody>
          <a:bodyPr anchor="t" rtlCol="false" tIns="0" lIns="0" bIns="0" rIns="0">
            <a:spAutoFit/>
          </a:bodyPr>
          <a:lstStyle/>
          <a:p>
            <a:pPr algn="l" marL="561334" indent="-280667" lvl="1">
              <a:lnSpc>
                <a:spcPts val="3639"/>
              </a:lnSpc>
              <a:buFont typeface="Arial"/>
              <a:buChar char="•"/>
            </a:pPr>
            <a:r>
              <a:rPr lang="en-US" b="true" sz="2599">
                <a:solidFill>
                  <a:srgbClr val="A72233"/>
                </a:solidFill>
                <a:latin typeface="Open Sans Bold"/>
                <a:ea typeface="Open Sans Bold"/>
                <a:cs typeface="Open Sans Bold"/>
                <a:sym typeface="Open Sans Bold"/>
              </a:rPr>
              <a:t>Coded in Python</a:t>
            </a:r>
          </a:p>
          <a:p>
            <a:pPr algn="l">
              <a:lnSpc>
                <a:spcPts val="3639"/>
              </a:lnSpc>
            </a:pPr>
          </a:p>
          <a:p>
            <a:pPr algn="l" marL="561334" indent="-280667" lvl="1">
              <a:lnSpc>
                <a:spcPts val="3639"/>
              </a:lnSpc>
              <a:buFont typeface="Arial"/>
              <a:buChar char="•"/>
            </a:pPr>
            <a:r>
              <a:rPr lang="en-US" b="true" sz="2599">
                <a:solidFill>
                  <a:srgbClr val="A72233"/>
                </a:solidFill>
                <a:latin typeface="Open Sans Bold"/>
                <a:ea typeface="Open Sans Bold"/>
                <a:cs typeface="Open Sans Bold"/>
                <a:sym typeface="Open Sans Bold"/>
              </a:rPr>
              <a:t>Search Algorithm: A*, through AIMA Library</a:t>
            </a:r>
          </a:p>
          <a:p>
            <a:pPr algn="l">
              <a:lnSpc>
                <a:spcPts val="3639"/>
              </a:lnSpc>
            </a:pPr>
          </a:p>
          <a:p>
            <a:pPr algn="l" marL="561334" indent="-280667" lvl="1">
              <a:lnSpc>
                <a:spcPts val="3639"/>
              </a:lnSpc>
              <a:buFont typeface="Arial"/>
              <a:buChar char="•"/>
            </a:pPr>
            <a:r>
              <a:rPr lang="en-US" b="true" sz="2599">
                <a:solidFill>
                  <a:srgbClr val="A72233"/>
                </a:solidFill>
                <a:latin typeface="Open Sans Bold"/>
                <a:ea typeface="Open Sans Bold"/>
                <a:cs typeface="Open Sans Bold"/>
                <a:sym typeface="Open Sans Bold"/>
              </a:rPr>
              <a:t>Heuristic function combines three aspects: Entropy, Remaining Time, Musical Energy</a:t>
            </a:r>
          </a:p>
          <a:p>
            <a:pPr algn="l">
              <a:lnSpc>
                <a:spcPts val="3639"/>
              </a:lnSpc>
            </a:pPr>
          </a:p>
          <a:p>
            <a:pPr algn="l" marL="561334" indent="-280667" lvl="1">
              <a:lnSpc>
                <a:spcPts val="3639"/>
              </a:lnSpc>
              <a:buFont typeface="Arial"/>
              <a:buChar char="•"/>
            </a:pPr>
            <a:r>
              <a:rPr lang="en-US" b="true" sz="2599">
                <a:solidFill>
                  <a:srgbClr val="A72233"/>
                </a:solidFill>
                <a:latin typeface="Open Sans Bold"/>
                <a:ea typeface="Open Sans Bold"/>
                <a:cs typeface="Open Sans Bold"/>
                <a:sym typeface="Open Sans Bold"/>
              </a:rPr>
              <a:t>Check if the preconditions are satisfied</a:t>
            </a:r>
          </a:p>
          <a:p>
            <a:pPr algn="l">
              <a:lnSpc>
                <a:spcPts val="3639"/>
              </a:lnSpc>
            </a:pPr>
          </a:p>
          <a:p>
            <a:pPr algn="l" marL="561334" indent="-280667" lvl="1">
              <a:lnSpc>
                <a:spcPts val="3639"/>
              </a:lnSpc>
              <a:buFont typeface="Arial"/>
              <a:buChar char="•"/>
            </a:pPr>
            <a:r>
              <a:rPr lang="en-US" b="true" sz="2599">
                <a:solidFill>
                  <a:srgbClr val="A72233"/>
                </a:solidFill>
                <a:latin typeface="Open Sans Bold"/>
                <a:ea typeface="Open Sans Bold"/>
                <a:cs typeface="Open Sans Bold"/>
                <a:sym typeface="Open Sans Bold"/>
              </a:rPr>
              <a:t>Avoid repeating moves</a:t>
            </a:r>
          </a:p>
          <a:p>
            <a:pPr algn="l">
              <a:lnSpc>
                <a:spcPts val="3639"/>
              </a:lnSpc>
            </a:pPr>
          </a:p>
        </p:txBody>
      </p:sp>
      <p:sp>
        <p:nvSpPr>
          <p:cNvPr name="TextBox 8" id="8"/>
          <p:cNvSpPr txBox="true"/>
          <p:nvPr/>
        </p:nvSpPr>
        <p:spPr>
          <a:xfrm rot="0">
            <a:off x="7945056" y="8809989"/>
            <a:ext cx="9314244" cy="448311"/>
          </a:xfrm>
          <a:prstGeom prst="rect">
            <a:avLst/>
          </a:prstGeom>
        </p:spPr>
        <p:txBody>
          <a:bodyPr anchor="t" rtlCol="false" tIns="0" lIns="0" bIns="0" rIns="0">
            <a:spAutoFit/>
          </a:bodyPr>
          <a:lstStyle/>
          <a:p>
            <a:pPr algn="ctr">
              <a:lnSpc>
                <a:spcPts val="3639"/>
              </a:lnSpc>
              <a:spcBef>
                <a:spcPct val="0"/>
              </a:spcBef>
            </a:pPr>
            <a:r>
              <a:rPr lang="en-US" b="true" sz="2599">
                <a:solidFill>
                  <a:srgbClr val="A72233"/>
                </a:solidFill>
                <a:latin typeface="Open Sans Bold"/>
                <a:ea typeface="Open Sans Bold"/>
                <a:cs typeface="Open Sans Bold"/>
                <a:sym typeface="Open Sans Bold"/>
              </a:rPr>
              <a:t>Repo</a:t>
            </a:r>
            <a:r>
              <a:rPr lang="en-US" sz="2599">
                <a:solidFill>
                  <a:srgbClr val="A72233"/>
                </a:solidFill>
                <a:latin typeface="Open Sans"/>
                <a:ea typeface="Open Sans"/>
                <a:cs typeface="Open Sans"/>
                <a:sym typeface="Open Sans"/>
              </a:rPr>
              <a:t>: </a:t>
            </a:r>
            <a:r>
              <a:rPr lang="en-US" sz="2599" u="sng">
                <a:solidFill>
                  <a:srgbClr val="A72233"/>
                </a:solidFill>
                <a:latin typeface="Open Sans"/>
                <a:ea typeface="Open Sans"/>
                <a:cs typeface="Open Sans"/>
                <a:sym typeface="Open Sans"/>
                <a:hlinkClick r:id="rId3" tooltip="https://github.com/LorenzoCollivaUnibo/BallaConNao/"/>
              </a:rPr>
              <a:t>https://github.com/LorenzoCollivaUnibo/BallaConNao</a:t>
            </a:r>
            <a:r>
              <a:rPr lang="en-US" sz="2599">
                <a:solidFill>
                  <a:srgbClr val="A72233"/>
                </a:solidFill>
                <a:latin typeface="Open Sans"/>
                <a:ea typeface="Open Sans"/>
                <a:cs typeface="Open Sans"/>
                <a:sym typeface="Open Sans"/>
              </a:rPr>
              <a:t> </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rot="0">
            <a:off x="3104805" y="2937645"/>
            <a:ext cx="12078390" cy="2205855"/>
          </a:xfrm>
          <a:prstGeom prst="rect">
            <a:avLst/>
          </a:prstGeom>
        </p:spPr>
        <p:txBody>
          <a:bodyPr anchor="t" rtlCol="false" tIns="0" lIns="0" bIns="0" rIns="0">
            <a:spAutoFit/>
          </a:bodyPr>
          <a:lstStyle/>
          <a:p>
            <a:pPr algn="ctr">
              <a:lnSpc>
                <a:spcPts val="8480"/>
              </a:lnSpc>
            </a:pPr>
            <a:r>
              <a:rPr lang="en-US" sz="8480">
                <a:solidFill>
                  <a:srgbClr val="A72233"/>
                </a:solidFill>
                <a:latin typeface="Archivo Black"/>
                <a:ea typeface="Archivo Black"/>
                <a:cs typeface="Archivo Black"/>
                <a:sym typeface="Archivo Black"/>
              </a:rPr>
              <a:t>THANKS FOR THE ATTENTION</a:t>
            </a:r>
          </a:p>
        </p:txBody>
      </p:sp>
      <p:sp>
        <p:nvSpPr>
          <p:cNvPr name="TextBox 3" id="3"/>
          <p:cNvSpPr txBox="true"/>
          <p:nvPr/>
        </p:nvSpPr>
        <p:spPr>
          <a:xfrm rot="0">
            <a:off x="6458605" y="5434677"/>
            <a:ext cx="5370790" cy="695961"/>
          </a:xfrm>
          <a:prstGeom prst="rect">
            <a:avLst/>
          </a:prstGeom>
        </p:spPr>
        <p:txBody>
          <a:bodyPr anchor="t" rtlCol="false" tIns="0" lIns="0" bIns="0" rIns="0">
            <a:spAutoFit/>
          </a:bodyPr>
          <a:lstStyle/>
          <a:p>
            <a:pPr algn="ctr">
              <a:lnSpc>
                <a:spcPts val="5739"/>
              </a:lnSpc>
              <a:spcBef>
                <a:spcPct val="0"/>
              </a:spcBef>
            </a:pPr>
            <a:r>
              <a:rPr lang="en-US" b="true" sz="4099" i="true">
                <a:solidFill>
                  <a:srgbClr val="A72233"/>
                </a:solidFill>
                <a:latin typeface="Open Sans Bold Italics"/>
                <a:ea typeface="Open Sans Bold Italics"/>
                <a:cs typeface="Open Sans Bold Italics"/>
                <a:sym typeface="Open Sans Bold Italics"/>
              </a:rPr>
              <a:t>Now BALLA CON NAO!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DAG5DAJJ5W0</dc:identifier>
  <dcterms:modified xsi:type="dcterms:W3CDTF">2011-08-01T06:04:30Z</dcterms:modified>
  <cp:revision>1</cp:revision>
  <dc:title>Lorem ipsum dolor sit amet, consectetur adipiscing elit, sed do eiusmod tempor incididunt ut labore et dolore magna aliqua. Ut enim ad minim veniam, quis nostrud exercitation ullamco laboris nisi ut aliquip ex ea commodo consequat.</dc:title>
</cp:coreProperties>
</file>